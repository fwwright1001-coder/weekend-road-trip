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ENGR 5513 · APPLIED AI IN ENGINEERING · FINAL BOSS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1207008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WEEKEND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 TRIP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game, shipped like a product: Vercel production + preview deployments, Neon Serverless Postgres, and 7 CI gates on every push.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weekend-road-trip-forrestw200.vercel.app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8138160" cy="0"/>
          </a:xfrm>
          <a:prstGeom prst="line">
            <a:avLst/>
          </a:prstGeom>
          <a:noFill/>
          <a:ln w="31750">
            <a:solidFill>
              <a:srgbClr val="F5D76E"/>
            </a:solidFill>
            <a:prstDash val="lg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 Wright — Lipscomb University      ENGR 5513, Summer 2026 — Dr. Steve Nordstrom</a:t>
            </a:r>
            <a:endParaRPr lang="en-US" sz="1150" dirty="0"/>
          </a:p>
        </p:txBody>
      </p:sp>
      <p:pic>
        <p:nvPicPr>
          <p:cNvPr id="8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024128"/>
            <a:ext cx="3703320" cy="2313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6048" y="996696"/>
            <a:ext cx="3758184" cy="2368296"/>
          </a:xfrm>
          <a:prstGeom prst="roundRect">
            <a:avLst>
              <a:gd name="adj" fmla="val 1544"/>
            </a:avLst>
          </a:prstGeom>
          <a:solidFill>
            <a:srgbClr val="000000">
              <a:alpha val="0"/>
            </a:srgbClr>
          </a:solidFill>
          <a:ln w="15875">
            <a:solidFill>
              <a:srgbClr val="F5D76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983480" y="34198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production title screen — live right now, Road Crew form wired to Neon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Weekend Road Trip in 30 seconds</a:t>
            </a:r>
            <a:endParaRPr lang="en-US" sz="2700" dirty="0"/>
          </a:p>
        </p:txBody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480560" cy="2688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768" y="1252728"/>
            <a:ext cx="4535424" cy="2743200"/>
          </a:xfrm>
          <a:prstGeom prst="roundRect">
            <a:avLst>
              <a:gd name="adj" fmla="val 1333"/>
            </a:avLst>
          </a:prstGeom>
          <a:solidFill>
            <a:srgbClr val="000000">
              <a:alpha val="0"/>
            </a:srgbClr>
          </a:solidFill>
          <a:ln w="15875">
            <a:solidFill>
              <a:srgbClr val="F5D76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4041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tank of gas, four legs of Nashville: downtown → Music Row → riverfront → Lower Broadway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437083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30352" y="442569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ENGINE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" y="4645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Canvas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11680" y="437083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084832" y="442569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ASSETS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66544" y="4645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art + audio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66160" y="437083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639312" y="442569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BUILD STEP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21024" y="4645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257800" y="1280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LANES + JUMP + DUCK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57800" y="155448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is automatic — your inputs are positioning. Difficulty peaks under the Broadway neon.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257800" y="22128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 RACE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257800" y="248716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records replay telemetry; export a JSON ghost and a classmate races you asynchronously.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257800" y="3145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GEOGRAPHY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257800" y="341985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scenery anchored to WGS84 landmarks — the Ryman, Music Row, the Cumberland riverfront.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257800" y="4078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PLAYS ANYWHERE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257800" y="435254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Keyboard, gamepad, touch; reduce-motion, colorblind contrast, screen-shake toggle.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stages — all of them shipped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377440"/>
                <a:gridCol w="452628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D7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D7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D7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SHIPPED AS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D7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Next.js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“Neon Spur Tours” — Next.js App Router app (repo: final-boss-next)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D7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DEPLOYS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D7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TONIGHT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GitHub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repos auto-deploy from GitHub on every push — zero manual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E27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Feature-branch preview deployments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PRs #29 &amp; #30 each got a public preview URL before merge; feature/preview-colorway on the Next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C8D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PROVEN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→ emails in Neon, live counter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“Road Crew” signup at /waitlist — validated, upserted, counter live (currently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E27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the game + scores in a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Road Trip on Vercel production; cloud leaderboard in Neon game_high_scores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E27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1–4 live in their own repo (final-boss-next); stage 5 is the game repo — same Vercel + Neon pattern at production scale.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 1–4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 Spur Tours — the Next.js warm-up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APP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landing page collecting email leads through app/api/leads/route.js into Neon Postgres.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PREVIEW PROOF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feature/preview-colorway restyles the page — its Vercel preview URL shows a change live without touching production.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1–4 rehearse the exact pipeline the game runs at full scale: GitHub → Vercel → Neon, previews before production.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github.com/fwwright1001-coder/final-boss-next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final-boss-next.vercel.app</a:t>
            </a:r>
            <a:pPr indent="0" marL="0">
              <a:buNone/>
            </a:pPr>
            <a:r>
              <a:rPr lang="en-US" sz="900" b="1" dirty="0">
                <a:solidFill>
                  <a:srgbClr val="7EE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LIVE · HTTP 200</a:t>
            </a:r>
            <a:endParaRPr lang="en-US" sz="1250" dirty="0"/>
          </a:p>
        </p:txBody>
      </p:sp>
      <p:pic>
        <p:nvPicPr>
          <p:cNvPr id="1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682496"/>
            <a:ext cx="3703320" cy="49377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56048" y="1655064"/>
            <a:ext cx="3758184" cy="548640"/>
          </a:xfrm>
          <a:prstGeom prst="roundRect">
            <a:avLst>
              <a:gd name="adj" fmla="val 6667"/>
            </a:avLst>
          </a:prstGeom>
          <a:solidFill>
            <a:srgbClr val="000000">
              <a:alpha val="0"/>
            </a:srgbClr>
          </a:solidFill>
          <a:ln w="15875">
            <a:solidFill>
              <a:srgbClr val="F5D76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983480" y="222199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Production + 2 Preview deployments — all Ready</a:t>
            </a:r>
            <a:endParaRPr lang="en-US" sz="850" dirty="0"/>
          </a:p>
        </p:txBody>
      </p:sp>
      <p:pic>
        <p:nvPicPr>
          <p:cNvPr id="15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06040"/>
            <a:ext cx="3703320" cy="17373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956048" y="2578608"/>
            <a:ext cx="3758184" cy="1792224"/>
          </a:xfrm>
          <a:prstGeom prst="roundRect">
            <a:avLst>
              <a:gd name="adj" fmla="val 2041"/>
            </a:avLst>
          </a:prstGeom>
          <a:solidFill>
            <a:srgbClr val="000000">
              <a:alpha val="0"/>
            </a:srgbClr>
          </a:solidFill>
          <a:ln w="15875">
            <a:solidFill>
              <a:srgbClr val="F5D76E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983480" y="438912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feature/preview-colorway — live on its own preview URL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83480" y="460857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form → Neon neon_spur_leads — counter live: “1 early riders”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codebase, three live deployments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651760" y="1298448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697480" y="12984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github.com/fwwright1001-coder/weekend-road-trip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@ b0b4156 — every deployed byte is in source control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 flipH="1">
            <a:off x="1828800" y="1993392"/>
            <a:ext cx="2377440" cy="493776"/>
          </a:xfrm>
          <a:prstGeom prst="line">
            <a:avLst/>
          </a:prstGeom>
          <a:noFill/>
          <a:ln w="22225">
            <a:solidFill>
              <a:srgbClr val="F5D7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0" y="1993392"/>
            <a:ext cx="0" cy="493776"/>
          </a:xfrm>
          <a:prstGeom prst="line">
            <a:avLst/>
          </a:prstGeom>
          <a:noFill/>
          <a:ln w="22225">
            <a:solidFill>
              <a:srgbClr val="F5D7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937760" y="1993392"/>
            <a:ext cx="2377440" cy="493776"/>
          </a:xfrm>
          <a:prstGeom prst="line">
            <a:avLst/>
          </a:prstGeom>
          <a:noFill/>
          <a:ln w="22225">
            <a:solidFill>
              <a:srgbClr val="F5D7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542032"/>
            <a:ext cx="2651760" cy="1993392"/>
          </a:xfrm>
          <a:prstGeom prst="roundRect">
            <a:avLst>
              <a:gd name="adj" fmla="val 2752"/>
            </a:avLst>
          </a:prstGeom>
          <a:solidFill>
            <a:srgbClr val="1B1B2B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2670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EE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9443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weekend-road-trip-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forrestw200.vercel.app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3419856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branch. Vercel serverless functions live, writing to Neon Postgres.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542032"/>
            <a:ext cx="2651760" cy="1993392"/>
          </a:xfrm>
          <a:prstGeom prst="roundRect">
            <a:avLst>
              <a:gd name="adj" fmla="val 2752"/>
            </a:avLst>
          </a:prstGeom>
          <a:solidFill>
            <a:srgbClr val="1B1B2B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83280" y="2670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PREVIEWS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9443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public URL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pull request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3419856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#29 (game-feel rework) &amp; #30 (landing page) were each playable on their own URL before merge.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542032"/>
            <a:ext cx="2651760" cy="1993392"/>
          </a:xfrm>
          <a:prstGeom prst="roundRect">
            <a:avLst>
              <a:gd name="adj" fmla="val 2752"/>
            </a:avLst>
          </a:prstGeom>
          <a:solidFill>
            <a:srgbClr val="1B1B2B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72200" y="2670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9443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fwwright1001-coder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.github.io/weekend-road-trip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72200" y="3419856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fallback — Pages can’t run serverless, so the same client degrades to localStorage and says so.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detects its surface at runtime — cloud when the API answers, localStorage when it can’t. Both paths are contract-tested in CI.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/ 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merge earns its way 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29844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PR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01952" y="1655064"/>
            <a:ext cx="228600" cy="0"/>
          </a:xfrm>
          <a:prstGeom prst="line">
            <a:avLst/>
          </a:prstGeom>
          <a:noFill/>
          <a:ln w="22225">
            <a:solidFill>
              <a:srgbClr val="F5D7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157984" y="129844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23233A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157984" y="129844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CI gates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(GitHub Actions)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02736" y="1655064"/>
            <a:ext cx="228600" cy="0"/>
          </a:xfrm>
          <a:prstGeom prst="line">
            <a:avLst/>
          </a:prstGeom>
          <a:noFill/>
          <a:ln w="22225">
            <a:solidFill>
              <a:srgbClr val="F5D7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858768" y="129844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858768" y="129844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preview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on the PR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1655064"/>
            <a:ext cx="228600" cy="0"/>
          </a:xfrm>
          <a:prstGeom prst="line">
            <a:avLst/>
          </a:prstGeom>
          <a:noFill/>
          <a:ln w="22225">
            <a:solidFill>
              <a:srgbClr val="F5D7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559552" y="129844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559552" y="129844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main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04304" y="1655064"/>
            <a:ext cx="228600" cy="0"/>
          </a:xfrm>
          <a:prstGeom prst="line">
            <a:avLst/>
          </a:prstGeom>
          <a:noFill/>
          <a:ln w="22225">
            <a:solidFill>
              <a:srgbClr val="F5D7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260336" y="129844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60336" y="129844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7EE27E"/>
          </a:solidFill>
          <a:ln w="6350">
            <a:solidFill>
              <a:srgbClr val="7EE27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23042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1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4128" y="224942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balance-sim  </a:t>
            </a:r>
            <a:pPr indent="0" marL="0">
              <a:buNone/>
            </a:pPr>
            <a:r>
              <a:rPr lang="en-US" sz="9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fairness proof: 500 seeded runs, 10 acceptance criteria — no obstacle layout is unavoidable; skill beats grinding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7EE27E"/>
          </a:solidFill>
          <a:ln w="6350">
            <a:solidFill>
              <a:srgbClr val="7EE27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298094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1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4128" y="29260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run-selftests  </a:t>
            </a:r>
            <a:pPr indent="0" marL="0">
              <a:buNone/>
            </a:pPr>
            <a:r>
              <a:rPr lang="en-US" sz="9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in-game self-tests, run headlessly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52958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7EE27E"/>
          </a:solidFill>
          <a:ln w="6350">
            <a:solidFill>
              <a:srgbClr val="7EE27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35295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1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4128" y="34747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smoke-dom  </a:t>
            </a:r>
            <a:pPr indent="0" marL="0">
              <a:buNone/>
            </a:pPr>
            <a:r>
              <a:rPr lang="en-US" sz="9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JS element reference resolves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07822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7EE27E"/>
          </a:solidFill>
          <a:ln w="6350">
            <a:solidFill>
              <a:srgbClr val="7EE27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40782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1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4128" y="40233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waitlist API contract  </a:t>
            </a:r>
            <a:pPr indent="0" marL="0">
              <a:buNone/>
            </a:pPr>
            <a:r>
              <a:rPr lang="en-US" sz="9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checks — validation, upsert, 503s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304288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7EE27E"/>
          </a:solidFill>
          <a:ln w="6350">
            <a:solidFill>
              <a:srgbClr val="7EE27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09160" y="23042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1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76088" y="224942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highscores API contract  </a:t>
            </a:r>
            <a:pPr indent="0" marL="0">
              <a:buNone/>
            </a:pPr>
            <a:r>
              <a:rPr lang="en-US" sz="9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checks — cloud leaderboard writes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852928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7EE27E"/>
          </a:solidFill>
          <a:ln w="6350">
            <a:solidFill>
              <a:srgbClr val="7EE27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09160" y="285292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1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76088" y="27980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highscores client contract  </a:t>
            </a:r>
            <a:pPr indent="0" marL="0">
              <a:buNone/>
            </a:pPr>
            <a:r>
              <a:rPr lang="en-US" sz="9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checks — local-first save + sync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3401568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7EE27E"/>
          </a:solidFill>
          <a:ln w="6350">
            <a:solidFill>
              <a:srgbClr val="7EE27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09160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1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76088" y="334670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client contract  </a:t>
            </a:r>
            <a:pPr indent="0" marL="0">
              <a:buNone/>
            </a:pPr>
            <a:r>
              <a:rPr lang="en-US" sz="95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checks — Road Crew form + static fallback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gates green locally today (2026-06-11). The same suite runs in GitHub Actions on every push and PR — a red gate blocks the merge.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· NEON SERVERLESS POSTGRES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tables, zero ways to strand a player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480560" cy="1481328"/>
          </a:xfrm>
          <a:prstGeom prst="roundRect">
            <a:avLst>
              <a:gd name="adj" fmla="val 3704"/>
            </a:avLst>
          </a:prstGeom>
          <a:solidFill>
            <a:srgbClr val="1B1B2B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1426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email_signups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0078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Crew signups from /waitlist and the title screen.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+ lowercased; duplicates upsert one row — the live counter can’t be inflated. No raw IPs stored, only a short salted hash.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480560" cy="1481328"/>
          </a:xfrm>
          <a:prstGeom prst="roundRect">
            <a:avLst>
              <a:gd name="adj" fmla="val 3704"/>
            </a:avLst>
          </a:prstGeom>
          <a:solidFill>
            <a:srgbClr val="1B1B2B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3054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game_high_scores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3328416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leaderboard.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save to localStorage FIRST, then sync to Neon — a failed cloud write can never trap the player on a saving screen.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537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api/waitlist.js + api/highscores.js auto-create their schema on first use; missing env vars return a clean 503 with a setup message — never a crash.</a:t>
            </a:r>
            <a:endParaRPr lang="en-US" sz="1000" dirty="0"/>
          </a:p>
        </p:txBody>
      </p:sp>
      <p:pic>
        <p:nvPicPr>
          <p:cNvPr id="11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298448"/>
            <a:ext cx="3429000" cy="21396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230368" y="1271016"/>
            <a:ext cx="3483864" cy="2194560"/>
          </a:xfrm>
          <a:prstGeom prst="roundRect">
            <a:avLst>
              <a:gd name="adj" fmla="val 1667"/>
            </a:avLst>
          </a:prstGeom>
          <a:solidFill>
            <a:srgbClr val="000000">
              <a:alpha val="0"/>
            </a:srgbClr>
          </a:solidFill>
          <a:ln w="15875">
            <a:solidFill>
              <a:srgbClr val="F5D76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257800" y="34747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now: the Road Crew counter, served from Neon</a:t>
            </a:r>
            <a:endParaRPr lang="en-US" sz="850" dirty="0"/>
          </a:p>
        </p:txBody>
      </p:sp>
      <p:pic>
        <p:nvPicPr>
          <p:cNvPr id="14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767328"/>
            <a:ext cx="3429000" cy="914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30368" y="3739896"/>
            <a:ext cx="3483864" cy="969264"/>
          </a:xfrm>
          <a:prstGeom prst="roundRect">
            <a:avLst>
              <a:gd name="adj" fmla="val 3774"/>
            </a:avLst>
          </a:prstGeom>
          <a:solidFill>
            <a:srgbClr val="000000">
              <a:alpha val="0"/>
            </a:srgbClr>
          </a:solidFill>
          <a:ln w="15875">
            <a:solidFill>
              <a:srgbClr val="F5D76E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5257800" y="4727448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 console — email_signups rows, all three tables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WAS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propose. Checks dispose.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BUILD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agents in isolated git worktrees, each owning one lane of the codebase, integrating through written cross-component contracts.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ADVERSARIAL REVIEW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6-reviewer pass independently re-verified every finding before it counted: 10 real bugs confirmed — all fixed, all re-gated.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282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55701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AI-authored change merged unless the balance sim and self-tests stayed green. The machine, not the model, has the final say.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D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this is AI orchestration + software engineering — no machine-learning claims. Full split in AI-CONTRIBUTIONS.md.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325880"/>
            <a:ext cx="3657600" cy="1993392"/>
          </a:xfrm>
          <a:prstGeom prst="roundRect">
            <a:avLst>
              <a:gd name="adj" fmla="val 2752"/>
            </a:avLst>
          </a:prstGeom>
          <a:solidFill>
            <a:srgbClr val="0D0D15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30368" y="14630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sim/balance-sim.js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no unavoidable blockers ... PASS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jump span &lt; min gap ....... PASS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open lane reachable ....... PASS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 skill dominates (12.6x) ... PASS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7EE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ACCEPTANCE: ALL CRITERIA MET 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3493008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93792" y="3602736"/>
            <a:ext cx="33467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RECEIPT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 caught a layout where the jump arc (654 px) outgrew the obstacle gap (460 px) at escalated speed — physically unsolvable. Flagged in design, never shipped.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· 5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pre-recorded. All of it is live.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13395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Road Crew on /waitlist — watch the Neon counter tick up live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8516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 run on production — lanes, jumps, near-miss combos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3637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→ enter initials → the cloud leaderboard renders from Neon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8757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dashboard — production + the PR preview deployments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3878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console — the rows we just wrote, in both tables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8999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fallback — same game, localStorage mode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498848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Wi-Fi dies: GitHub Pages + localStorage demos every game feature offline.</a:t>
            </a:r>
            <a:endParaRPr lang="en-US" sz="1050" dirty="0"/>
          </a:p>
        </p:txBody>
      </p:sp>
      <p:pic>
        <p:nvPicPr>
          <p:cNvPr id="17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325880"/>
            <a:ext cx="3703320" cy="231343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956048" y="1298448"/>
            <a:ext cx="3758184" cy="2368296"/>
          </a:xfrm>
          <a:prstGeom prst="roundRect">
            <a:avLst>
              <a:gd name="adj" fmla="val 1544"/>
            </a:avLst>
          </a:prstGeom>
          <a:solidFill>
            <a:srgbClr val="000000">
              <a:alpha val="0"/>
            </a:srgbClr>
          </a:solidFill>
          <a:ln w="15875">
            <a:solidFill>
              <a:srgbClr val="F5D76E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983480" y="3822192"/>
            <a:ext cx="3703320" cy="1024128"/>
          </a:xfrm>
          <a:prstGeom prst="roundRect">
            <a:avLst>
              <a:gd name="adj" fmla="val 5357"/>
            </a:avLst>
          </a:prstGeom>
          <a:solidFill>
            <a:srgbClr val="191926"/>
          </a:solidFill>
          <a:ln w="12700">
            <a:solidFill>
              <a:srgbClr val="2C2C4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138928" y="391363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weekend-road-trip-forrestw200.vercel.app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…vercel.app/waitlist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fwwright1001-coder.github.io/weekend-road-trip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EVERYTHING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claim here is checkable tonight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E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  </a:t>
            </a:r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weekend-road-trip-forrestw200.vercel.app</a:t>
            </a:r>
            <a:endParaRPr lang="en-US" sz="9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 crew    </a:t>
            </a:r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…vercel.app/waitlist</a:t>
            </a:r>
            <a:endParaRPr lang="en-US" sz="9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     </a:t>
            </a:r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fwwright1001-coder.github.io/weekend-road-trip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84632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· GITHUB.COM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62763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repo    </a:t>
            </a:r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fwwright1001-coder/weekend-road-trip</a:t>
            </a:r>
            <a:endParaRPr lang="en-US" sz="9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 1–4   </a:t>
            </a:r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fwwright1001-coder/final-boss-next</a:t>
            </a:r>
            <a:endParaRPr lang="en-US" sz="9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        </a:t>
            </a:r>
            <a:pPr indent="0" marL="0">
              <a:lnSpc>
                <a:spcPts val="2400"/>
              </a:lnSpc>
              <a:buNone/>
            </a:pPr>
            <a:r>
              <a:rPr lang="en-US" sz="950" dirty="0">
                <a:solidFill>
                  <a:srgbClr val="ECE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· ARCHITECTURE · AI-CONTRIBUTIONS</a:t>
            </a:r>
            <a:endParaRPr lang="en-US" sz="950" dirty="0"/>
          </a:p>
        </p:txBody>
      </p:sp>
      <p:pic>
        <p:nvPicPr>
          <p:cNvPr id="8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3291840" cy="1554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9768" y="3218688"/>
            <a:ext cx="3346704" cy="1609344"/>
          </a:xfrm>
          <a:prstGeom prst="roundRect">
            <a:avLst>
              <a:gd name="adj" fmla="val 2273"/>
            </a:avLst>
          </a:prstGeom>
          <a:solidFill>
            <a:srgbClr val="000000">
              <a:alpha val="0"/>
            </a:srgbClr>
          </a:solidFill>
          <a:ln w="15875">
            <a:solidFill>
              <a:srgbClr val="F5D76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48371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ghost car — racing a saved replay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0" y="3611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— or export a ghost JSON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D7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race me on your machine.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0" y="4526280"/>
            <a:ext cx="4572000" cy="0"/>
          </a:xfrm>
          <a:prstGeom prst="line">
            <a:avLst/>
          </a:prstGeom>
          <a:noFill/>
          <a:ln w="31750">
            <a:solidFill>
              <a:srgbClr val="F5D76E"/>
            </a:solidFill>
            <a:prstDash val="lgDash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114800" y="4645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 Wright · ENGR 5513 Applied AI in Engineering · Lipscomb University · Summer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Weekend Road Trip — ENGR 5513 Final Boss</dc:title>
  <dc:subject>PptxGenJS Presentation</dc:subject>
  <dc:creator>Forrest Wright</dc:creator>
  <cp:lastModifiedBy>Forrest Wright</cp:lastModifiedBy>
  <cp:revision>1</cp:revision>
  <dcterms:created xsi:type="dcterms:W3CDTF">2026-06-11T17:55:32Z</dcterms:created>
  <dcterms:modified xsi:type="dcterms:W3CDTF">2026-06-11T17:55:32Z</dcterms:modified>
</cp:coreProperties>
</file>